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5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حصة فئة المشروبات مقارنة ببقية الفئات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حصة الطلب (%)</c:v>
                </c:pt>
              </c:strCache>
            </c:strRef>
          </c:tx>
          <c:spPr>
            <a:solidFill>
              <a:srgbClr val="2667AB"/>
            </a:solidFill>
            <a:ln>
              <a:solidFill>
                <a:srgbClr val="2667AB"/>
              </a:solidFill>
            </a:ln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Beverages</c:v>
                </c:pt>
                <c:pt idx="1">
                  <c:v>Other categories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33.9</c:v>
                </c:pt>
                <c:pt idx="1">
                  <c:v>66.1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48e9265-c148-49f4-b75a-01ea14eec1b1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365760"/>
            <a:ext cx="2468880" cy="14630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658368"/>
            <a:ext cx="1828800" cy="9144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3400" b="1">
                <a:solidFill>
                  <a:srgbClr val="FFFFFF"/>
                </a:solidFill>
                <a:latin typeface="Arial" panose="020B0604020202020204"/>
              </a:defRPr>
            </a:pPr>
            <a:r>
              <a:t>تحليل الطلب على الوجبات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1051560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100" b="0">
                <a:solidFill>
                  <a:srgbClr val="D1E0F3"/>
                </a:solidFill>
                <a:latin typeface="Arial" panose="020B0604020202020204"/>
              </a:defRPr>
            </a:pPr>
            <a:r>
              <a:t>مشروع تحليل بيانات لدعم قرارات التشغيل والتسويق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51560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000" b="1">
                <a:solidFill>
                  <a:srgbClr val="F5B142"/>
                </a:solidFill>
                <a:latin typeface="Arial" panose="020B0604020202020204"/>
              </a:defRPr>
            </a:pPr>
            <a:r>
              <a:t>عرض مناقشة المشروع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البيانات • جودة البيانات • مؤشرات الطلب • الترويج • التوصيات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91443"/>
            <a:ext cx="10515600" cy="269875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0">
                <a:solidFill>
                  <a:srgbClr val="DCE4EE"/>
                </a:solidFill>
                <a:latin typeface="Arial" panose="020B0604020202020204"/>
              </a:defRPr>
            </a:pPr>
            <a:r>
              <a:t>إعداد: ....................</a:t>
            </a:r>
            <a:r>
              <a:rPr lang="ar-SA"/>
              <a:t>نور محمد البرويدل </a:t>
            </a:r>
            <a:r>
              <a:t>................     التاريخ: .........</a:t>
            </a:r>
            <a:r>
              <a:rPr lang="ar-SA"/>
              <a:t>26/10/2026</a:t>
            </a:r>
            <a:r>
              <a:t>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1. مشكلة المشروع وأهدافه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ما الذي نريد فهمه من بيانات الطلب؟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9144" y="1737360"/>
            <a:ext cx="50292" cy="1234439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09928"/>
            <a:ext cx="477316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المشكلة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67128"/>
            <a:ext cx="4773168" cy="822959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كيف يمكن تحويل سجلات الطلبات إلى مؤشرات تساعد على تخطيط الطلب وتحسين قرارات التسويق والتشغيل؟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24144" y="1737360"/>
            <a:ext cx="50292" cy="1234439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709928"/>
            <a:ext cx="477316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الهدف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167128"/>
            <a:ext cx="4773168" cy="822959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استكشاف نمط الطلب، وتحديد الوجبات والفئات الأكثر طلبًا، وفهم الارتباطات بين العروض والخصومات وعدد الطلبات.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1206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000" b="1">
                <a:solidFill>
                  <a:srgbClr val="142341"/>
                </a:solidFill>
                <a:latin typeface="Arial" panose="020B0604020202020204"/>
              </a:defRPr>
            </a:pPr>
            <a:r>
              <a:t>أسئلة التحليل الرئيسية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0607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كيف يتغير الطلب أسبوعيًا؟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ما الفئات والوجبات التي تسهم بأكبر حصة من الطلب؟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هل يختلف الطلب مع وجود العروض؟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ما علاقة الخصم بحجم الطلب؟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أي الوجبات أكثر استقرارًا أو تقلبًا؟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2. البيانات المستخدمة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تم دمج ملفات الطلبات مع معلومات الوجبات ومراكز التوزيع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544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91639"/>
            <a:ext cx="50292" cy="114300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64207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train.csv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121408"/>
            <a:ext cx="321868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سجلات الطلبات التاريخية، ومنها عدد الطلبات والأسعار ومؤشرات الترويج.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91639"/>
            <a:ext cx="5029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64207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meal_info.csv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121408"/>
            <a:ext cx="289864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تعريف الوجبة وفئتها.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5448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91639"/>
            <a:ext cx="50292" cy="1143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64207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fulfilment_center_info.csv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121408"/>
            <a:ext cx="285292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خصائص مراكز التوزيع ونوع المركز.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3375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93424" y="3474720"/>
            <a:ext cx="50292" cy="114300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3447288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test.csv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904487"/>
            <a:ext cx="321868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ملف منفصل يمكن الاستفادة منه في التنبؤ الاختياري؛ لا يحتوي بالضرورة على الهدف الفعلي.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3756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61504" y="3474720"/>
            <a:ext cx="5029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447288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طريقة الدمج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904487"/>
            <a:ext cx="289864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ربط الجداول بمعرّفات الوجبات والمراكز مع التحقق من عدد الصفوف.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33756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9624" y="3474720"/>
            <a:ext cx="50292" cy="1143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447288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نطاق البيانات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904487"/>
            <a:ext cx="285292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600" b="0">
                <a:solidFill>
                  <a:srgbClr val="253041"/>
                </a:solidFill>
                <a:latin typeface="Arial" panose="020B0604020202020204"/>
              </a:defRPr>
            </a:pPr>
            <a:r>
              <a:t>456,548 سجلًا في بيانات التدريب، والأسابيع من 1 إلى 145.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57800"/>
            <a:ext cx="1069848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500" b="1">
                <a:solidFill>
                  <a:srgbClr val="BA4848"/>
                </a:solidFill>
                <a:latin typeface="Arial" panose="020B0604020202020204"/>
              </a:defRPr>
            </a:pPr>
            <a:r>
              <a:t>ملاحظة: أرقام الأسابيع ليست تواريخ تقويمية فعلية؛ لذلك تُفسّر الاتجاهات على مستوى رقم الأسبوع.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3. تجهيز البيانات وجودتها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قبل التحليل، فُحصت سلامة البيانات واتساقها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45919"/>
            <a:ext cx="5029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18488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الدمج والتحقق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075688"/>
            <a:ext cx="321868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دمج جداول الطلبات والوجبات ومراكز التوزيع، مع التحقق من عدد الصفوف.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45919"/>
            <a:ext cx="50292" cy="114300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18488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الفحوصات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75688"/>
            <a:ext cx="289864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القيم المفقودة، الصفوف المكررة، والأسعار التي تتجاوز فيها قيمة الدفع السعر الأساسي.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0876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45919"/>
            <a:ext cx="50292" cy="1143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18488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فحص الطلب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075688"/>
            <a:ext cx="285292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مراجعة القيم غير المعتادة وفجوات أرقام الأسابيع.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337560"/>
            <a:ext cx="356616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900" b="1">
                <a:solidFill>
                  <a:srgbClr val="142341"/>
                </a:solidFill>
                <a:latin typeface="Arial" panose="020B0604020202020204"/>
              </a:defRPr>
            </a:pPr>
            <a:r>
              <a:t>مخرجات الجودة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توثيق قرارات التنظيف في docs/cleaning_decisions.csv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الحفاظ على ملفات البيانات الخام دون تعديل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فصل الملاحظات عن الافتراضات التي تحتاج إلى تحقق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500" b="1">
                <a:solidFill>
                  <a:srgbClr val="BA4848"/>
                </a:solidFill>
                <a:latin typeface="Arial" panose="020B0604020202020204"/>
              </a:defRPr>
            </a:pPr>
            <a:r>
              <a:t>مبدأ مهم: لا نحذف أي سجل لمجرد أنه يبدو غير معتاد؛ يجب أن يكون قرار المعالجة موثقًا ومبررًا.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4. حجم الطلب والاتجاه الأسبوعي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نظرة عامة على حجم النشاط في بيانات التدريب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45919"/>
            <a:ext cx="50292" cy="9601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18488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إجمالي الطلبات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075688"/>
            <a:ext cx="3218688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900" b="0">
                <a:solidFill>
                  <a:srgbClr val="253041"/>
                </a:solidFill>
                <a:latin typeface="Arial" panose="020B0604020202020204"/>
              </a:defRPr>
            </a:pPr>
            <a:r>
              <a:t>119,557,485 طلبًا (مجموع num_orders)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45919"/>
            <a:ext cx="50292" cy="96012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18488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متوسط الطلب الأسبوعي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75688"/>
            <a:ext cx="2898648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800" b="0">
                <a:solidFill>
                  <a:srgbClr val="253041"/>
                </a:solidFill>
                <a:latin typeface="Arial" panose="020B0604020202020204"/>
              </a:defRPr>
            </a:pPr>
            <a:r>
              <a:t>نحو 824,534 طلبًا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0876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45919"/>
            <a:ext cx="50292" cy="96012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18488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الفترة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075688"/>
            <a:ext cx="2852928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800" b="0">
                <a:solidFill>
                  <a:srgbClr val="253041"/>
                </a:solidFill>
                <a:latin typeface="Arial" panose="020B0604020202020204"/>
              </a:defRPr>
            </a:pPr>
            <a:r>
              <a:t>145 رقم أسبوع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54680"/>
            <a:ext cx="38862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000" b="1">
                <a:solidFill>
                  <a:srgbClr val="142341"/>
                </a:solidFill>
                <a:latin typeface="Arial" panose="020B0604020202020204"/>
              </a:defRPr>
            </a:pPr>
            <a:r>
              <a:t>كيف قرأنا الاتجاه؟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600">
                <a:solidFill>
                  <a:srgbClr val="253041"/>
                </a:solidFill>
                <a:latin typeface="Arial" panose="020B0604020202020204"/>
              </a:defRPr>
            </a:pPr>
            <a:r>
              <a:t>•  تجميع عدد الطلبات حسب رقم الأسبوع</a:t>
            </a:r>
          </a:p>
          <a:p>
            <a:pPr algn="r">
              <a:spcAft>
                <a:spcPts val="800"/>
              </a:spcAft>
              <a:defRPr sz="1600">
                <a:solidFill>
                  <a:srgbClr val="253041"/>
                </a:solidFill>
                <a:latin typeface="Arial" panose="020B0604020202020204"/>
              </a:defRPr>
            </a:pPr>
            <a:r>
              <a:t>•  مقارنة الأسابيع لتحديد الارتفاعات والانخفاضات</a:t>
            </a:r>
          </a:p>
          <a:p>
            <a:pPr algn="r">
              <a:spcAft>
                <a:spcPts val="800"/>
              </a:spcAft>
              <a:defRPr sz="1600">
                <a:solidFill>
                  <a:srgbClr val="253041"/>
                </a:solidFill>
                <a:latin typeface="Arial" panose="020B0604020202020204"/>
              </a:defRPr>
            </a:pPr>
            <a:r>
              <a:t>•  ربط أي تفسير بمخرجات الرسم الفعلي في التقرير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0040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9864" y="3337560"/>
            <a:ext cx="50292" cy="155448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310128"/>
            <a:ext cx="47274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مؤشر أساسي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767328"/>
            <a:ext cx="4727448" cy="11430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إجمالي الطلبات يصف حجم الطلب، لكنه لا يوضح وحده الربحية أو القدرة التشغيلية المطلوبة.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1">
                <a:solidFill>
                  <a:srgbClr val="BA4848"/>
                </a:solidFill>
                <a:latin typeface="Arial" panose="020B0604020202020204"/>
              </a:defRPr>
            </a:pPr>
            <a:r>
              <a:t>مهم للمناقشة: لا يمكن تسمية الأسابيع بمواسم أو أشهر محددة لأن الملف لا يوفر تواريخ تقويمية فعلية.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5. الفئات والوجبات الأكثر طلبًا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الطلب موزع بصورة غير متساوية بين الفئات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08760"/>
          <a:ext cx="566928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164592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56264" y="1783080"/>
            <a:ext cx="50292" cy="10972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755648"/>
            <a:ext cx="42245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أبرز نتيجة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212848"/>
            <a:ext cx="4224528" cy="685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900" b="0">
                <a:solidFill>
                  <a:srgbClr val="253041"/>
                </a:solidFill>
                <a:latin typeface="Arial" panose="020B0604020202020204"/>
              </a:defRPr>
            </a:pPr>
            <a:r>
              <a:t>فئة Beverages تمثل نحو 33.9% من إجمالي الطلبات.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33756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56264" y="3474720"/>
            <a:ext cx="50292" cy="109728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3447288"/>
            <a:ext cx="42245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لماذا يهم ذلك؟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3904487"/>
            <a:ext cx="4224528" cy="685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يمكن استخدام توزيع الطلب لتحديد أولويات التخطيط للمخزون والطاقة التشغيلية.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0">
                <a:solidFill>
                  <a:srgbClr val="5F6C80"/>
                </a:solidFill>
                <a:latin typeface="Arial" panose="020B0604020202020204"/>
              </a:defRPr>
            </a:pPr>
            <a:r>
              <a:t>التركيز على الوجبات الفردية يجب أن يجمع بين حجم الطلب ونسبة مساهمتها التراكمية، لا الترتيب وحده.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6. الترويج والخصومات: ماذا تقول البيانات؟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نتائج ارتباطية وليست دليلًا على السببية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5448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91639"/>
            <a:ext cx="5029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64207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صفوف الترويج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121408"/>
            <a:ext cx="321868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تمت مقارنة الطلبات في سجلات بها مؤشرات ترويجية وبغيرها ضمن البيانات المتاحة.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91639"/>
            <a:ext cx="50292" cy="114300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64207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الخصم والطلب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121408"/>
            <a:ext cx="289864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معامل Spearman ≈ 0.122؛ ارتباط موجب لكنه ضعيف.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5448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91639"/>
            <a:ext cx="50292" cy="1143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64207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اختبار إحصائي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121408"/>
            <a:ext cx="285292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استُخدم اختبار Mann–Whitney للمقارنة بين توزيعات الطلب.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429000"/>
            <a:ext cx="356616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900" b="1">
                <a:solidFill>
                  <a:srgbClr val="142341"/>
                </a:solidFill>
                <a:latin typeface="Arial" panose="020B0604020202020204"/>
              </a:defRPr>
            </a:pPr>
            <a:r>
              <a:t>التفسير الصحيح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2764"/>
            <a:ext cx="10698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الارتباط الموجب لا يعني أن الخصم سبب زيادة الطلب.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قد تؤثر عوامل أخرى مثل نوع الوجبة والمركز والأسبوع.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يجب عرض حجم الأثر وقيمة p وطريقة المقارنة مع توضيح القيود.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1">
                <a:solidFill>
                  <a:srgbClr val="BA4848"/>
                </a:solidFill>
                <a:latin typeface="Arial" panose="020B0604020202020204"/>
              </a:defRPr>
            </a:pPr>
            <a:r>
              <a:t>توصية تحليلية: إجراء مقارنة أكثر ضبطًا داخل مجموعات الوجبة والمركز والأسبوع قبل اتخاذ قرار تسويقي.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7. أداء مراكز التوزيع واستقرار الوجبات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المقارنة تحتاج إلى مراعاة اختلاف أحجام التشغيل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566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45919"/>
            <a:ext cx="50292" cy="1188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18488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مراكز التوزيع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075688"/>
            <a:ext cx="3218688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600" b="0">
                <a:solidFill>
                  <a:srgbClr val="253041"/>
                </a:solidFill>
                <a:latin typeface="Arial" panose="020B0604020202020204"/>
              </a:defRPr>
            </a:pPr>
            <a:r>
              <a:t>جُمعت مؤشرات الطلب حسب المركز ونوع المركز لتسهيل المقارنة.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45919"/>
            <a:ext cx="50292" cy="118872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18488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التقلب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75688"/>
            <a:ext cx="2898648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700" b="0">
                <a:solidFill>
                  <a:srgbClr val="253041"/>
                </a:solidFill>
                <a:latin typeface="Arial" panose="020B0604020202020204"/>
              </a:defRPr>
            </a:pPr>
            <a:r>
              <a:t>معامل الاختلاف CV = الانحراف المعياري ÷ المتوسط.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0876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45919"/>
            <a:ext cx="50292" cy="118872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18488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القراءة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075688"/>
            <a:ext cx="2852928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600" b="0">
                <a:solidFill>
                  <a:srgbClr val="253041"/>
                </a:solidFill>
                <a:latin typeface="Arial" panose="020B0604020202020204"/>
              </a:defRPr>
            </a:pPr>
            <a:r>
              <a:t>الوجبة ذات الطلب العالي ليست بالضرورة الأكثر استقرارًا.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520440"/>
            <a:ext cx="356616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900" b="1">
                <a:solidFill>
                  <a:srgbClr val="142341"/>
                </a:solidFill>
                <a:latin typeface="Arial" panose="020B0604020202020204"/>
              </a:defRPr>
            </a:pPr>
            <a:r>
              <a:t>كيف نستفيد؟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مقارنة المراكز باستخدام متوسط الطلب ومقاييس قابلة للمقارنة.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تمييز الوجبات ذات الحجم الكبير عن الوجبات شديدة التقلب.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استخدام CV مع حجم الطلب لتحديد احتياجات التخطيط.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1">
                <a:solidFill>
                  <a:srgbClr val="BA4848"/>
                </a:solidFill>
                <a:latin typeface="Arial" panose="020B0604020202020204"/>
              </a:defRPr>
            </a:pPr>
            <a:r>
              <a:t>لا ينبغي الحكم على أداء المركز من إجمالي الطلب فقط؛ فحجم المركز ونوعه قد يفسران جزءًا من الفرق.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800" b="1">
                <a:solidFill>
                  <a:srgbClr val="142341"/>
                </a:solidFill>
                <a:latin typeface="Arial" panose="020B0604020202020204"/>
              </a:defRPr>
            </a:pPr>
            <a:r>
              <a:t>8. التوصيات العملية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0" y="932688"/>
            <a:ext cx="868680" cy="502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300" b="0">
                <a:solidFill>
                  <a:srgbClr val="5F6C80"/>
                </a:solidFill>
                <a:latin typeface="Arial" panose="020B0604020202020204"/>
              </a:defRPr>
            </a:pPr>
            <a:r>
              <a:t>كل توصية مرتبطة بمؤشر يمكن متابعته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36576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1000" b="0">
                <a:solidFill>
                  <a:srgbClr val="5F6C80"/>
                </a:solidFill>
                <a:latin typeface="Arial" panose="020B0604020202020204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93424" y="1645919"/>
            <a:ext cx="50292" cy="1143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618488"/>
            <a:ext cx="321868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1B998B"/>
                </a:solidFill>
                <a:latin typeface="Arial" panose="020B0604020202020204"/>
              </a:defRPr>
            </a:pPr>
            <a:r>
              <a:t>1. تخطيط المخزون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075688"/>
            <a:ext cx="321868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استخدم الطلب الأسبوعي وحصة الفئة لتحديد أولويات توافر الوجبات.</a:t>
            </a:r>
          </a:p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KPI: نسبة نفاد المخزون / دقة التنبؤ.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1504" y="1645919"/>
            <a:ext cx="50292" cy="1143000"/>
          </a:xfrm>
          <a:prstGeom prst="rect">
            <a:avLst/>
          </a:prstGeom>
          <a:solidFill>
            <a:srgbClr val="2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618488"/>
            <a:ext cx="289864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2667AB"/>
                </a:solidFill>
                <a:latin typeface="Arial" panose="020B0604020202020204"/>
              </a:defRPr>
            </a:pPr>
            <a:r>
              <a:t>2. تقييم العروض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75688"/>
            <a:ext cx="289864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اختبر العروض على مجموعات متقاربة من الوجبات والمراكز.</a:t>
            </a:r>
          </a:p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KPI: التغير في الطلب وصافي الإيراد.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508760"/>
            <a:ext cx="3200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1645919"/>
            <a:ext cx="50292" cy="11430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618488"/>
            <a:ext cx="2852928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800" b="1">
                <a:solidFill>
                  <a:srgbClr val="F5B142"/>
                </a:solidFill>
                <a:latin typeface="Arial" panose="020B0604020202020204"/>
              </a:defRPr>
            </a:pPr>
            <a:r>
              <a:t>3. إدارة التقلب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075688"/>
            <a:ext cx="2852928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راجع الوجبات ذات CV المرتفع مع حجم طلبها.</a:t>
            </a:r>
          </a:p>
          <a:p>
            <a:pPr algn="r">
              <a:defRPr sz="1500" b="0">
                <a:solidFill>
                  <a:srgbClr val="253041"/>
                </a:solidFill>
                <a:latin typeface="Arial" panose="020B0604020202020204"/>
              </a:defRPr>
            </a:pPr>
            <a:r>
              <a:t>KPI: تقلب الطلب الأسبوعي.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429000"/>
            <a:ext cx="356616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900" b="1">
                <a:solidFill>
                  <a:srgbClr val="142341"/>
                </a:solidFill>
                <a:latin typeface="Arial" panose="020B0604020202020204"/>
              </a:defRPr>
            </a:pPr>
            <a:r>
              <a:t>خطوة تالية مقترحة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تحسين المقارنة الإحصائية بإضافة ضوابط للوجبة والمركز والأسبوع.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تجربة نموذج تنبؤ اختياري ومقارنته بخط أساس بسيط باستخدام MAE.</a:t>
            </a:r>
          </a:p>
          <a:p>
            <a:pPr algn="r">
              <a:spcAft>
                <a:spcPts val="800"/>
              </a:spcAft>
              <a:defRPr sz="1700">
                <a:solidFill>
                  <a:srgbClr val="253041"/>
                </a:solidFill>
                <a:latin typeface="Arial" panose="020B0604020202020204"/>
              </a:defRPr>
            </a:pPr>
            <a:r>
              <a:t>•  تحديث المؤشرات دوريًا بعد توفر بيانات أحدث.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400" b="1">
                <a:solidFill>
                  <a:srgbClr val="BA4848"/>
                </a:solidFill>
                <a:latin typeface="Arial" panose="020B0604020202020204"/>
              </a:defRPr>
            </a:pPr>
            <a:r>
              <a:t>التوصيات مقترحات مبنية على التحليل الاستكشافي؛ يجب تقييمها ميدانيًا قبل تعميمها.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200" b="1">
                <a:solidFill>
                  <a:srgbClr val="F5B142"/>
                </a:solidFill>
                <a:latin typeface="Arial" panose="020B0604020202020204"/>
              </a:defRPr>
            </a:pPr>
            <a:r>
              <a:t>ماذا أنجزنا؟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241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900">
                <a:solidFill>
                  <a:srgbClr val="FFFFFF"/>
                </a:solidFill>
                <a:latin typeface="Arial" panose="020B0604020202020204"/>
              </a:defRPr>
            </a:pPr>
            <a:r>
              <a:t>•  دمج ملفات البيانات وتجهيز قاعدة تحليل موحدة.</a:t>
            </a:r>
          </a:p>
          <a:p>
            <a:pPr algn="r">
              <a:spcAft>
                <a:spcPts val="1000"/>
              </a:spcAft>
              <a:defRPr sz="1900">
                <a:solidFill>
                  <a:srgbClr val="FFFFFF"/>
                </a:solidFill>
                <a:latin typeface="Arial" panose="020B0604020202020204"/>
              </a:defRPr>
            </a:pPr>
            <a:r>
              <a:t>•  فحص جودة البيانات وتوثيق قرارات التنظيف.</a:t>
            </a:r>
          </a:p>
          <a:p>
            <a:pPr algn="r">
              <a:spcAft>
                <a:spcPts val="1000"/>
              </a:spcAft>
              <a:defRPr sz="1900">
                <a:solidFill>
                  <a:srgbClr val="FFFFFF"/>
                </a:solidFill>
                <a:latin typeface="Arial" panose="020B0604020202020204"/>
              </a:defRPr>
            </a:pPr>
            <a:r>
              <a:t>•  حساب مؤشرات الطلب وتحليل الفئات والعروض والخصومات.</a:t>
            </a:r>
          </a:p>
          <a:p>
            <a:pPr algn="r">
              <a:spcAft>
                <a:spcPts val="1000"/>
              </a:spcAft>
              <a:defRPr sz="1900">
                <a:solidFill>
                  <a:srgbClr val="FFFFFF"/>
                </a:solidFill>
                <a:latin typeface="Arial" panose="020B0604020202020204"/>
              </a:defRPr>
            </a:pPr>
            <a:r>
              <a:t>•  إعداد رسوم وتقارير وتوصيات قابلة للمتابعة.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5156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100" b="1">
                <a:solidFill>
                  <a:srgbClr val="1B998B"/>
                </a:solidFill>
                <a:latin typeface="Arial" panose="020B0604020202020204"/>
              </a:defRPr>
            </a:pPr>
            <a:r>
              <a:t>حدود التحليل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05840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1700" b="0">
                <a:solidFill>
                  <a:srgbClr val="E1E9F4"/>
                </a:solidFill>
                <a:latin typeface="Arial" panose="020B0604020202020204"/>
              </a:defRPr>
            </a:pPr>
            <a:r>
              <a:t>لا توجد تواريخ تقويمية فعلية أو تسميات جغرافية واضحة في البيانات؛ والارتباط لا يثبت السببية. لذلك تُعرض النتائج بوصفها مؤشرات استكشافية.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شكرًا لكم — يسعدني استقبال الأسئلة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Arial" panose="020B0604020202020204"/>
              </a:defRPr>
            </a:pPr>
            <a:r>
              <a:t>إضافة تعلّم الآلة: كيف قيّمنا التنبؤ؟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استخدمنا Random Forest للتنبؤ بعدد الطلبات.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درّبنا النموذج على الأسابيع السابقة، وحجزنا الأسابيع 136–145 للتقييم.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قارنا النموذج بخط أساس يستخدم طلب الأسبوع السابق للمركز والوجبة.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استخدمنا MAE: كلما كانت القيمة أقل كان الخطأ أصغر.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استخدمنا عينة تدريب ثابتة لتقليل وقت التنفيذ على الحاسوب الشخصي.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Arial" panose="020B0604020202020204"/>
              </a:defRPr>
            </a:pPr>
            <a:r>
              <a:t>نتيجة التنبؤ: خط الأساس أدق في الاختبار الحالي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MAE نموذج Random Forest: 95.14 طلب.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MAE خط الأساس: 92.94 طلب.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التغير مقابل خط الأساس: -2.37% (السالب يعني أن النموذج أسوأ).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النتيجة: لا نعتمد نموذج الغابة العشوائية بوصفه أفضل قبل تحسينه وإعادة تقييمه.</a:t>
            </a:r>
          </a:p>
          <a:p>
            <a:pPr algn="r">
              <a:spcAft>
                <a:spcPts val="1200"/>
              </a:spcAft>
              <a:defRPr sz="1900">
                <a:latin typeface="Arial" panose="020B0604020202020204"/>
              </a:defRPr>
            </a:pPr>
            <a:r>
              <a:t>• ملف test_predictions.csv يحتوي تنبؤات فقط؛ لا يمكن تقييمه دون أعداد فعلية.</a:t>
            </a:r>
          </a:p>
        </p:txBody>
      </p:sp>
      <p:pic>
        <p:nvPicPr>
          <p:cNvPr id="4" name="Picture 3" descr="ml_ma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120640" cy="30363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5484</Words>
  <Application>WPS Presentation</Application>
  <PresentationFormat>On-screen Show (4:3)</PresentationFormat>
  <Paragraphs>248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إضافة تعلّم الآلة: كيف قيّمنا التنبؤ؟</vt:lpstr>
      <vt:lpstr>نتيجة التنبؤ: خط الأساس أدق في الاختبار الحالي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3</cp:revision>
  <dcterms:created xsi:type="dcterms:W3CDTF">2013-01-27T09:14:00Z</dcterms:created>
  <dcterms:modified xsi:type="dcterms:W3CDTF">2026-10-26T04:57:42Z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462675922834485E9AF998539FEF8650_12</vt:lpwstr>
  </property>
</Properties>
</file>